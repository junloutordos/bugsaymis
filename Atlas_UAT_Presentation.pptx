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updates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Sep'25</c:v>
                  </c:pt>
                  <c:pt idx="1">
                    <c:v>Oct'25</c:v>
                  </c:pt>
                  <c:pt idx="2">
                    <c:v>Nov'25</c:v>
                  </c:pt>
                  <c:pt idx="3">
                    <c:v>Dec'25</c:v>
                  </c:pt>
                  <c:pt idx="4">
                    <c:v>Jan'26</c:v>
                  </c:pt>
                  <c:pt idx="5">
                    <c:v>Feb'26</c:v>
                  </c:pt>
                  <c:pt idx="6">
                    <c:v>Mar'26</c:v>
                  </c:pt>
                  <c:pt idx="7">
                    <c:v>Apr'26</c:v>
                  </c:pt>
                  <c:pt idx="8">
                    <c:v>May'26</c:v>
                  </c:pt>
                  <c:pt idx="9">
                    <c:v>Jun'26</c:v>
                  </c:pt>
                  <c:pt idx="10">
                    <c:v>Jul'26*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82</c:v>
                </c:pt>
                <c:pt idx="5">
                  <c:v>44</c:v>
                </c:pt>
                <c:pt idx="6">
                  <c:v>104</c:v>
                </c:pt>
                <c:pt idx="7">
                  <c:v>112</c:v>
                </c:pt>
                <c:pt idx="8">
                  <c:v>471</c:v>
                </c:pt>
                <c:pt idx="9">
                  <c:v>517</c:v>
                </c:pt>
                <c:pt idx="10">
                  <c:v>135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4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5852160" y="-548640"/>
            <a:ext cx="475488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1051560"/>
            <a:ext cx="1051560" cy="105156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280160"/>
            <a:ext cx="59436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</a:t>
            </a:r>
            <a:endParaRPr lang="en-US" sz="5600" dirty="0"/>
          </a:p>
        </p:txBody>
      </p:sp>
      <p:sp>
        <p:nvSpPr>
          <p:cNvPr id="6" name="Text 2"/>
          <p:cNvSpPr/>
          <p:nvPr/>
        </p:nvSpPr>
        <p:spPr>
          <a:xfrm>
            <a:off x="713232" y="2926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Training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13232" y="33649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PSHS-CRC Campus Management Information System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12700">
            <a:solidFill>
              <a:srgbClr val="3C4A8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" y="4114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4-Hour Training Session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Thursday, July 9, 2026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13232" y="4846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 Science High School – Caraga Region Campus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528523"/>
            <a:ext cx="405994" cy="4059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8404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&amp; Objectives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1325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is about to go live campus-wide. Before it does, we need the people who will actually use it every day to confirm it works — that's what today is for.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457200" y="2057400"/>
            <a:ext cx="512064" cy="512064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68" y="2123968"/>
            <a:ext cx="378927" cy="37892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198424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readiness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143000" y="22677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Atlas supports the real workflows PSHS-CRC needs — before go-live, not after.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57200" y="2807208"/>
            <a:ext cx="512064" cy="512064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8" y="2873776"/>
            <a:ext cx="378927" cy="37892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27340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real scenarios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143000" y="30175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leave, DTR, payroll, IPCR, requests, and other day-to-day tasks yourself.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57200" y="3557016"/>
            <a:ext cx="512064" cy="512064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768" y="3623584"/>
            <a:ext cx="378927" cy="37892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34838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issues early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1143000" y="37673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gaps, confusion, or bugs while there is still time to fix them.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457200" y="4306824"/>
            <a:ext cx="512064" cy="512064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768" y="4373392"/>
            <a:ext cx="378927" cy="37892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43000" y="42336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confidence</a:t>
            </a:r>
            <a:endParaRPr lang="en-US" sz="1450" dirty="0"/>
          </a:p>
        </p:txBody>
      </p:sp>
      <p:sp>
        <p:nvSpPr>
          <p:cNvPr id="23" name="Text 15"/>
          <p:cNvSpPr/>
          <p:nvPr/>
        </p:nvSpPr>
        <p:spPr>
          <a:xfrm>
            <a:off x="1143000" y="451713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today comfortable navigating Atlas in your own role.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528523"/>
            <a:ext cx="405994" cy="4059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8404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UAT — And What's Your Role?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137160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8580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Training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85800" y="19202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check before a system goes live. Real end users, using real workflows, confirm that Atlas actually meets PSHS-CRC's needs — not just that the code runs.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85800" y="30632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feels wrong, confusing, or slower than your old process — that is a valid, useful finding. You are not expected to know Atlas's internals.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617720" y="1371600"/>
            <a:ext cx="3977640" cy="1444752"/>
          </a:xfrm>
          <a:prstGeom prst="roundRect">
            <a:avLst>
              <a:gd name="adj" fmla="val 5063"/>
            </a:avLst>
          </a:prstGeom>
          <a:solidFill>
            <a:srgbClr val="FBF3E2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00600" y="15361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526" y="1586118"/>
            <a:ext cx="284196" cy="2841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0" y="15179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— the Tester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800600" y="19385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Atlas as you would on a normal work day. Try your real tasks. Report exactly what you did and what happened — no need to fix anything.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4617720" y="2990088"/>
            <a:ext cx="3977640" cy="1444752"/>
          </a:xfrm>
          <a:prstGeom prst="roundRect">
            <a:avLst>
              <a:gd name="adj" fmla="val 506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800600" y="315468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526" y="3204606"/>
            <a:ext cx="284196" cy="2841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3520" y="31363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Team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4800600" y="3557016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Observes, answers process questions, and logs confirmed issues for follow-up. Not here to defend the system — here to learn from it.</a:t>
            </a:r>
            <a:endParaRPr lang="en-US" sz="1180" dirty="0"/>
          </a:p>
        </p:txBody>
      </p:sp>
      <p:sp>
        <p:nvSpPr>
          <p:cNvPr id="21" name="Text 1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528523"/>
            <a:ext cx="405994" cy="4059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8404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 for Today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1463040"/>
            <a:ext cx="512064" cy="512064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68" y="1529608"/>
            <a:ext cx="378927" cy="37892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138988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wrong answers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143000" y="16733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Confusion, hesitation, or “I didn't know where to click” are all valid, useful findings.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57200" y="2139696"/>
            <a:ext cx="512064" cy="512064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8" y="2206264"/>
            <a:ext cx="378927" cy="37892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206654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the provided test accounts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1143000" y="23500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log in with personal or production credentials during this session.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457200" y="2816352"/>
            <a:ext cx="512064" cy="512064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768" y="2882920"/>
            <a:ext cx="378927" cy="37892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27432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like it's a real Tuesday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1143000" y="302666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realistic dates, names, and numbers so the test reflects actual use.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457200" y="3493008"/>
            <a:ext cx="512064" cy="512064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768" y="3559576"/>
            <a:ext cx="378927" cy="37892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43000" y="34198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— don't work around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1143000" y="3703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feels wrong, log it. Don't quietly find a workaround and move on.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457200" y="4169664"/>
            <a:ext cx="512064" cy="512064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768" y="4236232"/>
            <a:ext cx="378927" cy="37892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43000" y="40965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issue, one report</a:t>
            </a:r>
            <a:endParaRPr lang="en-US" sz="1450" dirty="0"/>
          </a:p>
        </p:txBody>
      </p:sp>
      <p:sp>
        <p:nvSpPr>
          <p:cNvPr id="26" name="Text 17"/>
          <p:cNvSpPr/>
          <p:nvPr/>
        </p:nvSpPr>
        <p:spPr>
          <a:xfrm>
            <a:off x="1143000" y="437997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each issue separately, even small ones — it makes triage far easier later.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528523"/>
            <a:ext cx="405994" cy="4059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8404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12435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schedule for a 9:00 AM start — adjust to your actual session time.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5577840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SESSION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357"/>
                          </a:solidFill>
                        </a:rPr>
                        <a:t>9:00 – 9:15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357"/>
                          </a:solidFill>
                        </a:rPr>
                        <a:t>15 min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357"/>
                          </a:solidFill>
                        </a:rPr>
                        <a:t>Welcome, Objectives &amp; What Is UAT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357"/>
                          </a:solidFill>
                        </a:rPr>
                        <a:t>9:15 – 9:40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357"/>
                          </a:solidFill>
                        </a:rPr>
                        <a:t>25 min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357"/>
                          </a:solidFill>
                        </a:rPr>
                        <a:t>Background &amp; History of Atlas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357"/>
                          </a:solidFill>
                        </a:rPr>
                        <a:t>9:40 – 10:05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357"/>
                          </a:solidFill>
                        </a:rPr>
                        <a:t>25 min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357"/>
                          </a:solidFill>
                        </a:rPr>
                        <a:t>Roles, Access &amp; System Tour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A6A1A"/>
                          </a:solidFill>
                        </a:rPr>
                        <a:t>10:05 – 10:20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A6A1A"/>
                          </a:solidFill>
                        </a:rPr>
                        <a:t>15 min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A6A1A"/>
                          </a:solidFill>
                        </a:rPr>
                        <a:t>Break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357"/>
                          </a:solidFill>
                        </a:rPr>
                        <a:t>10:20 – 11:15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357"/>
                          </a:solidFill>
                        </a:rPr>
                        <a:t>55 min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357"/>
                          </a:solidFill>
                        </a:rPr>
                        <a:t>Features &amp; Modules Walkthrough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357"/>
                          </a:solidFill>
                        </a:rPr>
                        <a:t>11:15 – 12:10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357"/>
                          </a:solidFill>
                        </a:rPr>
                        <a:t>55 min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357"/>
                          </a:solidFill>
                        </a:rPr>
                        <a:t>Hands-On UAT Testing Exercises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A6A1A"/>
                          </a:solidFill>
                        </a:rPr>
                        <a:t>12:10 – 12:20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A6A1A"/>
                          </a:solidFill>
                        </a:rPr>
                        <a:t>10 min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A6A1A"/>
                          </a:solidFill>
                        </a:rPr>
                        <a:t>Break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357"/>
                          </a:solidFill>
                        </a:rPr>
                        <a:t>12:20 – 12:45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357"/>
                          </a:solidFill>
                        </a:rPr>
                        <a:t>25 min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357"/>
                          </a:solidFill>
                        </a:rPr>
                        <a:t>Issue Logging, Severity &amp; Group Debrief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357"/>
                          </a:solidFill>
                        </a:rPr>
                        <a:t>12:45 – 1:00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357"/>
                          </a:solidFill>
                        </a:rPr>
                        <a:t>15 min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357"/>
                          </a:solidFill>
                        </a:rPr>
                        <a:t>Exit Criteria, Sign-Off &amp; Next Steps</a:t>
                      </a:r>
                      <a:endParaRPr lang="en-US" sz="105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5577840" y="54864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731520" y="1965960"/>
            <a:ext cx="777240" cy="77724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61" y="2067001"/>
            <a:ext cx="575158" cy="5751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91640" y="1938528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History of Atlas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777240" y="2971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system came from, how it grew, and why it's called Atlas today.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BACKGROUND &amp; HISTORY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Started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1417320"/>
            <a:ext cx="2834640" cy="3017520"/>
          </a:xfrm>
          <a:prstGeom prst="roundRect">
            <a:avLst>
              <a:gd name="adj" fmla="val 258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4008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September 8, 2025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4008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commit — the very first line of code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3534156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66160" y="150876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in-house for PSHS-CRC Butuan City, by the campus's own MIS development team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under the working name “BugSayMis” — a from-scratch replacement for scattered paper forms, spreadsheets, and disconnected tools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developers: Junlou Tordos and Michael Francisco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modules focused on core HR records, user accounts &amp; roles, and performance management (IPCR)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BACKGROUND &amp; HISTORY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Year of Continuous Development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457200" y="1371600"/>
          <a:ext cx="52120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457200" y="45902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*Jul'26 partial — through July 9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852160" y="141732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FBF3E2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6035040" y="15361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1,470+</a:t>
            </a:r>
            <a:endParaRPr lang="en-US" sz="3200" dirty="0"/>
          </a:p>
        </p:txBody>
      </p:sp>
      <p:sp>
        <p:nvSpPr>
          <p:cNvPr id="12" name="Text 7"/>
          <p:cNvSpPr/>
          <p:nvPr/>
        </p:nvSpPr>
        <p:spPr>
          <a:xfrm>
            <a:off x="603504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updates shipped since day one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5852160" y="29718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quiet founding period, development accelerated sharply from January 2026 onward — reaching full pace ahead of the May 2026 production launch, and continuing steadily since.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BACKGROUND &amp; HISTORY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CRCMIS to Atlas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1371600"/>
            <a:ext cx="8138160" cy="914400"/>
          </a:xfrm>
          <a:prstGeom prst="roundRect">
            <a:avLst>
              <a:gd name="adj" fmla="val 7000"/>
            </a:avLst>
          </a:prstGeom>
          <a:solidFill>
            <a:srgbClr val="EEF3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03504" y="1545336"/>
            <a:ext cx="566928" cy="566928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05" y="1619037"/>
            <a:ext cx="419527" cy="4195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1463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2, 2026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2971800" y="14538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1.0.0 — Initial Production Release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2971800" y="1737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CRCMIS goes live campus-wide, unifying HR, academic, and campus operations into one secure, integrated platform.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57200" y="2395728"/>
            <a:ext cx="81381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03504" y="2569464"/>
            <a:ext cx="566928" cy="566928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05" y="2643165"/>
            <a:ext cx="419527" cy="41952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248716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22, 2026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2971800" y="24780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Rebranded to Atlas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2971800" y="276148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CRCMIS / BugSayMis adopts its lasting identity — a redesigned, brand-aligned login experience across the platform.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419856"/>
            <a:ext cx="8138160" cy="914400"/>
          </a:xfrm>
          <a:prstGeom prst="roundRect">
            <a:avLst>
              <a:gd name="adj" fmla="val 7000"/>
            </a:avLst>
          </a:prstGeom>
          <a:solidFill>
            <a:srgbClr val="EEF3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03504" y="3593592"/>
            <a:ext cx="566928" cy="566928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05" y="3667293"/>
            <a:ext cx="419527" cy="41952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3511296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period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2971800" y="35021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Agent becomes Atlas Sentinel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2971800" y="378561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and IT-fleet monitoring module is renamed Atlas Sentinel, extending the Atlas identity into IT operations.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7200" y="44988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hasn't stopped at go-live — module maturity scoring, mobile-first chat, push notifications, and technical documentation have all shipped since. Your feedback today feeds directly into what's built next.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BACKGROUND &amp; HISTORY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Last — The Technical Foundation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14173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21792" y="158191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96" y="1634216"/>
            <a:ext cx="297729" cy="29772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792" y="207568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 + PHP 8.4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21792" y="2386584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modern backend framework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3246120" y="14173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410712" y="158191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3016" y="1634216"/>
            <a:ext cx="297729" cy="29772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410712" y="207568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Inertia.js 2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3410712" y="2386584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responsive interface — no page reloads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035040" y="14173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199632" y="158191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1936" y="1634216"/>
            <a:ext cx="297729" cy="29772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99632" y="207568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on AWS RDS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6199632" y="2386584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at rest, single-AZ managed database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457200" y="30175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21792" y="318211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096" y="3234416"/>
            <a:ext cx="297729" cy="29772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1792" y="367588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AWS S3 Storage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21792" y="3986784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served only through authenticated proxy routes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3246120" y="30175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410712" y="318211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3016" y="3234416"/>
            <a:ext cx="297729" cy="297729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410712" y="367588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&amp; Alerts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3410712" y="3986784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Laravel Echo + Soketi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6035040" y="30175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6199632" y="318211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1936" y="3234416"/>
            <a:ext cx="297729" cy="297729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199632" y="367588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 + Cloudflare</a:t>
            </a: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6199632" y="3986784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 1.3, WAF-protected, auto-scaling hosting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457200" y="4572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know how this works — but it's why Atlas is fast, secure, and able to improve continuously.</a:t>
            </a:r>
            <a:endParaRPr lang="en-US" sz="1050" dirty="0"/>
          </a:p>
        </p:txBody>
      </p:sp>
      <p:sp>
        <p:nvSpPr>
          <p:cNvPr id="39" name="Text 2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40" name="Text 30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5577840" y="54864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731520" y="1965960"/>
            <a:ext cx="777240" cy="77724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61" y="2067001"/>
            <a:ext cx="575158" cy="5751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91640" y="1938528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Modules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777240" y="2971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tour of what Atlas can do — organized the way you'll see it in the sidebar.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FEATURES &amp; MODULES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Roles, Permissions &amp; What You'll See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325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uses role-based access control: every account is assigned one or more roles, and every role is granted specific permissions — down to individual actions like “approve leave” or “view payslip.” You will only see the modules and buttons your test account is permitted to use.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1381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217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TYPICAL ACCESS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Administrator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7"/>
                          </a:solidFill>
                        </a:rPr>
                        <a:t>Full access — bypasses all permission checks. Manages users, roles, and system configuration.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HR Officer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7"/>
                          </a:solidFill>
                        </a:rPr>
                        <a:t>Manages employee records, leave approvals, DTR, payroll, SALN, and recruitment.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Division Chief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7"/>
                          </a:solidFill>
                        </a:rPr>
                        <a:t>Reviews and approves leave, IPCR, and requests for their own division.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Faculty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7"/>
                          </a:solidFill>
                        </a:rPr>
                        <a:t>Submits leave, DTR, IPCR, class records, and faculty loading requests.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Staff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7"/>
                          </a:solidFill>
                        </a:rPr>
                        <a:t>Submits leave, DTR, service/IT/facility requests, and personal records (PDS, SALN).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42519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you'll test using the role assigned to your test account — not necessarily your own real-life role.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FEATURES &amp; MODULES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Module Map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1417320"/>
            <a:ext cx="1517904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987552" y="15819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1641348"/>
            <a:ext cx="338328" cy="3383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0352" y="21671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Personnel</a:t>
            </a:r>
            <a:endParaRPr lang="en-US" sz="1030" dirty="0"/>
          </a:p>
        </p:txBody>
      </p:sp>
      <p:sp>
        <p:nvSpPr>
          <p:cNvPr id="12" name="Shape 7"/>
          <p:cNvSpPr/>
          <p:nvPr/>
        </p:nvSpPr>
        <p:spPr>
          <a:xfrm>
            <a:off x="2066544" y="1417320"/>
            <a:ext cx="1517904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2596896" y="15819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332" y="1641348"/>
            <a:ext cx="338328" cy="3383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139696" y="21671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Mgmt.</a:t>
            </a:r>
            <a:endParaRPr lang="en-US" sz="1030" dirty="0"/>
          </a:p>
        </p:txBody>
      </p:sp>
      <p:sp>
        <p:nvSpPr>
          <p:cNvPr id="16" name="Shape 10"/>
          <p:cNvSpPr/>
          <p:nvPr/>
        </p:nvSpPr>
        <p:spPr>
          <a:xfrm>
            <a:off x="3675888" y="1417320"/>
            <a:ext cx="1517904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206240" y="15819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5676" y="1641348"/>
            <a:ext cx="338328" cy="3383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749040" y="21671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030" dirty="0"/>
          </a:p>
        </p:txBody>
      </p:sp>
      <p:sp>
        <p:nvSpPr>
          <p:cNvPr id="20" name="Shape 13"/>
          <p:cNvSpPr/>
          <p:nvPr/>
        </p:nvSpPr>
        <p:spPr>
          <a:xfrm>
            <a:off x="5285232" y="1417320"/>
            <a:ext cx="1517904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5815584" y="15819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5020" y="1641348"/>
            <a:ext cx="338328" cy="33832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58384" y="21671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&amp; Rewards</a:t>
            </a:r>
            <a:endParaRPr lang="en-US" sz="1030" dirty="0"/>
          </a:p>
        </p:txBody>
      </p:sp>
      <p:sp>
        <p:nvSpPr>
          <p:cNvPr id="24" name="Shape 16"/>
          <p:cNvSpPr/>
          <p:nvPr/>
        </p:nvSpPr>
        <p:spPr>
          <a:xfrm>
            <a:off x="6894576" y="1417320"/>
            <a:ext cx="1517904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7424928" y="15819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4364" y="1641348"/>
            <a:ext cx="338328" cy="33832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967728" y="21671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&amp; Requests</a:t>
            </a:r>
            <a:endParaRPr lang="en-US" sz="1030" dirty="0"/>
          </a:p>
        </p:txBody>
      </p:sp>
      <p:sp>
        <p:nvSpPr>
          <p:cNvPr id="28" name="Shape 19"/>
          <p:cNvSpPr/>
          <p:nvPr/>
        </p:nvSpPr>
        <p:spPr>
          <a:xfrm>
            <a:off x="457200" y="2971800"/>
            <a:ext cx="1517904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987552" y="3136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988" y="3195828"/>
            <a:ext cx="338328" cy="33832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30352" y="37216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Supply</a:t>
            </a:r>
            <a:endParaRPr lang="en-US" sz="1030" dirty="0"/>
          </a:p>
        </p:txBody>
      </p:sp>
      <p:sp>
        <p:nvSpPr>
          <p:cNvPr id="32" name="Shape 22"/>
          <p:cNvSpPr/>
          <p:nvPr/>
        </p:nvSpPr>
        <p:spPr>
          <a:xfrm>
            <a:off x="2066544" y="2971800"/>
            <a:ext cx="1517904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2596896" y="3136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6332" y="3195828"/>
            <a:ext cx="338328" cy="33832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2139696" y="37216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Faculty</a:t>
            </a:r>
            <a:endParaRPr lang="en-US" sz="1030" dirty="0"/>
          </a:p>
        </p:txBody>
      </p:sp>
      <p:sp>
        <p:nvSpPr>
          <p:cNvPr id="36" name="Shape 25"/>
          <p:cNvSpPr/>
          <p:nvPr/>
        </p:nvSpPr>
        <p:spPr>
          <a:xfrm>
            <a:off x="3675888" y="2971800"/>
            <a:ext cx="1517904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37" name="Shape 26"/>
          <p:cNvSpPr/>
          <p:nvPr/>
        </p:nvSpPr>
        <p:spPr>
          <a:xfrm>
            <a:off x="4206240" y="3136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5676" y="3195828"/>
            <a:ext cx="338328" cy="33832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3749040" y="37216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Life &amp; Campus</a:t>
            </a:r>
            <a:endParaRPr lang="en-US" sz="1030" dirty="0"/>
          </a:p>
        </p:txBody>
      </p:sp>
      <p:sp>
        <p:nvSpPr>
          <p:cNvPr id="40" name="Shape 28"/>
          <p:cNvSpPr/>
          <p:nvPr/>
        </p:nvSpPr>
        <p:spPr>
          <a:xfrm>
            <a:off x="5285232" y="2971800"/>
            <a:ext cx="1517904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41" name="Shape 29"/>
          <p:cNvSpPr/>
          <p:nvPr/>
        </p:nvSpPr>
        <p:spPr>
          <a:xfrm>
            <a:off x="5815584" y="3136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75020" y="3195828"/>
            <a:ext cx="338328" cy="338328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5358384" y="37216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&amp; Atlas Sentinel</a:t>
            </a:r>
            <a:endParaRPr lang="en-US" sz="1030" dirty="0"/>
          </a:p>
        </p:txBody>
      </p:sp>
      <p:sp>
        <p:nvSpPr>
          <p:cNvPr id="44" name="Shape 31"/>
          <p:cNvSpPr/>
          <p:nvPr/>
        </p:nvSpPr>
        <p:spPr>
          <a:xfrm>
            <a:off x="6894576" y="2971800"/>
            <a:ext cx="1517904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45" name="Shape 32"/>
          <p:cNvSpPr/>
          <p:nvPr/>
        </p:nvSpPr>
        <p:spPr>
          <a:xfrm>
            <a:off x="7424928" y="3136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84364" y="3195828"/>
            <a:ext cx="338328" cy="33832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967728" y="37216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030" dirty="0"/>
          </a:p>
        </p:txBody>
      </p:sp>
      <p:sp>
        <p:nvSpPr>
          <p:cNvPr id="48" name="Text 34"/>
          <p:cNvSpPr/>
          <p:nvPr/>
        </p:nvSpPr>
        <p:spPr>
          <a:xfrm>
            <a:off x="457200" y="44805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walk through each of these next — this is the map for the rest of the session.</a:t>
            </a:r>
            <a:endParaRPr lang="en-US" sz="1100" dirty="0"/>
          </a:p>
        </p:txBody>
      </p:sp>
      <p:sp>
        <p:nvSpPr>
          <p:cNvPr id="49" name="Text 3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50" name="Text 36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FEATURES &amp; MODULES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&amp; Personnel Management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325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about an employee's record and day-to-day presence at PSHS-CRC.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1874520"/>
            <a:ext cx="8138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 (201 Files) — personal data, employment details, designations, and status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Sheet (PDS) — CSC-compliant digital PDS: education, experience, eligibility, trainings, references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 — CSC Form No. 6 workflow; multi-level approval (Division Chief → HR → OCD); auto weekend exclusion &amp; credit deduction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Time Record (DTR) — biometric sync, manual encoding, and monthly reports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Home (WFH) — attendance monitoring, accomplishment reporting, and approval workflow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SALN — Statement of Assets, Liabilities and Net Worth, with HR review and OCD approval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FEATURES &amp; MODULES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Management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325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individual and team performance is planned, tracked, and evaluated.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1874520"/>
            <a:ext cx="8138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IPCR — Individual Performance Commitment and Review, 5-stage workflow: Employee → Division Chief → HR → PMT → OCD/Director, with e-signatures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 — Strategic Function (30%), Core Function (55%), Support Function (15%)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/ PMT — Performance Management Team dashboards, evaluation reports, and batch processing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Development Plans (IDP) — training needs assessment tied to each employee's plan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FEATURES &amp; MODULES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Recruitment, Rewards &amp; Learning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325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people in, recognizing them, and helping them grow.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1874520"/>
            <a:ext cx="8138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&amp; Selection — job postings, applicant tracking, interview scheduling, ranking, and placement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Recognition — nominations, multi-criteria evaluation, approval routing, and a recognition log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 — sessions, participant tracking, post-training evaluation, and certificates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Programs — structured development programs and enrollments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FEATURES &amp; MODULES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 &amp; Compensation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325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attendance and pay rules into an actual payslip.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1874520"/>
            <a:ext cx="8138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Runs — period-based payroll processing tied to DTR and leave data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Payslips — individual payslip generation and viewing (“My Payslips”)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Allowance Types — configurable allowances and deductions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Schedules — salary grade and step matrix per the Salary Standardization Law (SSL)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Payroll Upload — bulk payroll data import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FEATURES &amp; MODULES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Records, Requests &amp; General Services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325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documents, spaces, and support where they need to go.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1874520"/>
            <a:ext cx="8138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Issuances — Special Orders, Travel Orders, Memos with e-signature, QR verification, and PDF generation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Tracking — internal &amp; external document routing with history and status updates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Messengerial — document courier and delivery coordination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Travel, Vehicle &amp; Facility Requests — booking and approval workflows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Job Requests &amp; Service Requests — technical and general maintenance requests, with a 3-day filing rule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FEATURES &amp; MODULES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&amp; Supply Chain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325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planning a purchase to tracking the item on a shelf.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1874520"/>
            <a:ext cx="8138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PPMP — Project Procurement Management Plan: item encoding, budget tracking, status history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Requests, RFQs &amp; Purchase Orders — the procurement transaction chain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 &amp; Disbursement Vouchers — obligation and payment documentation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&amp; Property — Item Catalog, IAR, RIS, Stock Cards, ICS, PAR, transfers, and disposal records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FEATURES &amp; MODULES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&amp; Faculty Operations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325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the school year and recording how students are doing.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1874520"/>
            <a:ext cx="8138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Loading — AI-assisted schedule generation with conflict detection &amp; auto-resolution, plus overload computation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Records — quarterly grading, running grade computation, at-risk highlighting, and PDF export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&amp; Teacher Attendance — in-class assessment tools and attendance monitoring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Years — controls which academic term is active; past terms are locked read-only automatically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FEATURES &amp; MODULES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Life &amp; Campus Services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325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beyond the classroom — health, discipline, housing, and more.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1874520"/>
            <a:ext cx="8138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Laboratory — reservations, equipment accountability, reagents, maintenance, calibration, and safety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&amp; Health — counseling records, session reports, and physician scheduling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Discipline — incident reports, case tracking, and an offense catalog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 Hall — dormer applications, room assignments, leave passes, and incident logs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Services — collections, borrowing, and attendance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FEATURES &amp; MODULES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MIS, IT Support &amp; Atlas Sentinel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325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MIS team keeps Atlas — and every device on campus — healthy.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1874520"/>
            <a:ext cx="8138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Job Requests &amp; Equipment Inventory — service tickets and ICT equipment records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Sentinel — fleet health dashboard for enrolled devices campus-wide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Help &amp; Device Backups — remote assistance requests and scheduled device backups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Monitor &amp; WatchTower — system-wide maturity scoring and infrastructure monitoring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FEATURES &amp; MODULES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 &amp; System Backbone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325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controls that keep every other module secure and organized.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1874520"/>
            <a:ext cx="8138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— dynamic roles, granular permissions, module- and action-level restrictions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Structure — divisions, offices, and unit hierarchy with chief assignments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— full system activity and data-change history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— instant messaging between users, powered by Laravel Echo &amp; Soketi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 &amp; Reports — campus-wide key metrics and operational summaries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5577840" y="54864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731520" y="1965960"/>
            <a:ext cx="777240" cy="77724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61" y="2067001"/>
            <a:ext cx="575158" cy="5751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91640" y="1938528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UAT Testing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777240" y="2971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log in and try it yourself — in pairs or individually, using your test account.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HANDS-ON TESTING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Start: Environment &amp; Login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1463040"/>
            <a:ext cx="512064" cy="512064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68" y="1529608"/>
            <a:ext cx="378927" cy="37892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138988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link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143000" y="16733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facilitator will share the UAT/staging link for today's session — use that link only.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57200" y="2267712"/>
            <a:ext cx="512064" cy="512064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8" y="2334280"/>
            <a:ext cx="378927" cy="37892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21945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accounts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143000" y="247802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the test account handed out to you, matching a specific role — not your personal account.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57200" y="3072384"/>
            <a:ext cx="512064" cy="512064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768" y="3138952"/>
            <a:ext cx="378927" cy="37892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299923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method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1143000" y="328269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production: sign in with the test Google account provided, via the usual login screen.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457200" y="3877056"/>
            <a:ext cx="512064" cy="512064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768" y="3943624"/>
            <a:ext cx="378927" cy="37892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43000" y="380390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only</a:t>
            </a:r>
            <a:endParaRPr lang="en-US" sz="1450" dirty="0"/>
          </a:p>
        </p:txBody>
      </p:sp>
      <p:sp>
        <p:nvSpPr>
          <p:cNvPr id="23" name="Text 15"/>
          <p:cNvSpPr/>
          <p:nvPr/>
        </p:nvSpPr>
        <p:spPr>
          <a:xfrm>
            <a:off x="1143000" y="408736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environment holds sample data. Do not enter real personal or sensitive information — anything you add may be reset after today.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HANDS-ON TESTING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A — Login &amp; Navigation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1417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05840" y="13990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your assigned test account and role.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57200" y="20391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05840" y="20208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Dashboard — name three things it tells you at a glance.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57200" y="26609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05840" y="264261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sidebar and locate the module group for your assigned role.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457200" y="32826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005840" y="32644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Profile, update the “Specialization” field, and save.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457200" y="39044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7"/>
          <p:cNvSpPr/>
          <p:nvPr/>
        </p:nvSpPr>
        <p:spPr>
          <a:xfrm>
            <a:off x="45720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005840" y="38862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out, then log back in to confirm your change was saved.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HANDS-ON TESTING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B — HR Self-Service Workflow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1417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05840" y="13990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Leave Application for a future date range (any leave type).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57200" y="20391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05840" y="20208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“My Leave Credits” — does the balance shown look correct?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57200" y="26609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05840" y="264261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“My PDS” and review one section (e.g. Work Experience) for accuracy.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457200" y="32826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005840" y="32644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“My DTR” for the current month.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457200" y="39044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7"/>
          <p:cNvSpPr/>
          <p:nvPr/>
        </p:nvSpPr>
        <p:spPr>
          <a:xfrm>
            <a:off x="45720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005840" y="38862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applicable to your role: submit a Work-From-Home accomplishment entry.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HANDS-ON TESTING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C — Requests &amp; Communication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1417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05840" y="13990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 new IT Job Request describing a sample technical issue.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57200" y="20391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05840" y="20208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Document Tracking and view or create a sample document's routing.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57200" y="26609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05840" y="264261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message to another tester using real-time Chat.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457200" y="32826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005840" y="32644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Facility or Vehicle Request for a sample campus event.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HANDS-ON TESTING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D — Role-Specific Deep Dive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2984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row matching your assigned test role and complete that task.</a:t>
            </a:r>
            <a:endParaRPr lang="en-US" sz="12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1381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  <a:gridCol w="3474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Finance / Payroll staff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Payroll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7"/>
                          </a:solidFill>
                        </a:rPr>
                        <a:t>Review a payroll run and open a sample payslip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Supervisors / Division Chiefs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IPCR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7"/>
                          </a:solidFill>
                        </a:rPr>
                        <a:t>Review and act on a submitted accomplishment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Faculty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Faculty Loading / Class Records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7"/>
                          </a:solidFill>
                        </a:rPr>
                        <a:t>View your teaching load and open a class record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Admin / Procurement staff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Procurement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7"/>
                          </a:solidFill>
                        </a:rPr>
                        <a:t>Create a sample Purchase Request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IT / MIS staff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Atlas Sentinel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7"/>
                          </a:solidFill>
                        </a:rPr>
                        <a:t>Open the fleet Health Dashboard and review a device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5577840" y="54864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731520" y="1965960"/>
            <a:ext cx="777240" cy="77724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61" y="2067001"/>
            <a:ext cx="575158" cy="5751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91640" y="1938528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Feedback, Sign-Off &amp; Next Steps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777240" y="2971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what you found today into fixes — and a green light for go-live.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FEEDBACK &amp; SIGN-OFF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Log an Issue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2984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report answers five questions — that's all it takes:</a:t>
            </a:r>
            <a:endParaRPr lang="en-US" sz="12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64208"/>
          <a:ext cx="8138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943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Module / Page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7"/>
                          </a:solidFill>
                        </a:rPr>
                        <a:t>Where did this happen? (e.g. Leave Applications, My PDS)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What you did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7"/>
                          </a:solidFill>
                        </a:rPr>
                        <a:t>The exact steps you took, in order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What you expected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7"/>
                          </a:solidFill>
                        </a:rPr>
                        <a:t>What should have happened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What actually happened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7"/>
                          </a:solidFill>
                        </a:rPr>
                        <a:t>What happened instead — include any error message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357"/>
                          </a:solidFill>
                        </a:rPr>
                        <a:t>Screenshot &amp; role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7"/>
                          </a:solidFill>
                        </a:rPr>
                        <a:t>A screenshot if possible, plus which test account/role you used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4160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via the in-app Error Report / CSM Feedback tool, or the shared UAT issue log your facilitator provides.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FEEDBACK &amp; SIGN-OFF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&amp; Priority Guide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141732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</p:sp>
      <p:sp>
        <p:nvSpPr>
          <p:cNvPr id="9" name="Shape 5"/>
          <p:cNvSpPr/>
          <p:nvPr/>
        </p:nvSpPr>
        <p:spPr>
          <a:xfrm>
            <a:off x="621792" y="1545336"/>
            <a:ext cx="402336" cy="40233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6"/>
          <p:cNvSpPr/>
          <p:nvPr/>
        </p:nvSpPr>
        <p:spPr>
          <a:xfrm>
            <a:off x="621792" y="1545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188720" y="14721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606040" y="147218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unusable, data loss, or a security concern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263640" y="147218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immediately — before go-live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19456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621792" y="2322576"/>
            <a:ext cx="402336" cy="402336"/>
          </a:xfrm>
          <a:prstGeom prst="ellipse">
            <a:avLst/>
          </a:prstGeom>
          <a:solidFill>
            <a:srgbClr val="D9720C"/>
          </a:solidFill>
          <a:ln/>
        </p:spPr>
      </p:sp>
      <p:sp>
        <p:nvSpPr>
          <p:cNvPr id="16" name="Text 12"/>
          <p:cNvSpPr/>
          <p:nvPr/>
        </p:nvSpPr>
        <p:spPr>
          <a:xfrm>
            <a:off x="621792" y="2322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188720" y="224942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606040" y="224942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workflow is blocked with no workaround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263640" y="22494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before go-live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57200" y="297180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</p:sp>
      <p:sp>
        <p:nvSpPr>
          <p:cNvPr id="21" name="Shape 17"/>
          <p:cNvSpPr/>
          <p:nvPr/>
        </p:nvSpPr>
        <p:spPr>
          <a:xfrm>
            <a:off x="621792" y="3099816"/>
            <a:ext cx="402336" cy="402336"/>
          </a:xfrm>
          <a:prstGeom prst="ellipse">
            <a:avLst/>
          </a:prstGeom>
          <a:solidFill>
            <a:srgbClr val="D9A62E"/>
          </a:solidFill>
          <a:ln/>
        </p:spPr>
      </p:sp>
      <p:sp>
        <p:nvSpPr>
          <p:cNvPr id="22" name="Text 18"/>
          <p:cNvSpPr/>
          <p:nvPr/>
        </p:nvSpPr>
        <p:spPr>
          <a:xfrm>
            <a:off x="621792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1188720" y="302666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2606040" y="302666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works, but with friction or an awkward workaround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263640" y="30266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before go-live if time allows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57200" y="374904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7" name="Shape 23"/>
          <p:cNvSpPr/>
          <p:nvPr/>
        </p:nvSpPr>
        <p:spPr>
          <a:xfrm>
            <a:off x="621792" y="3877056"/>
            <a:ext cx="402336" cy="402336"/>
          </a:xfrm>
          <a:prstGeom prst="ellipse">
            <a:avLst/>
          </a:prstGeom>
          <a:solidFill>
            <a:srgbClr val="5B8A6B"/>
          </a:solidFill>
          <a:ln/>
        </p:spPr>
      </p:sp>
      <p:sp>
        <p:nvSpPr>
          <p:cNvPr id="28" name="Text 24"/>
          <p:cNvSpPr/>
          <p:nvPr/>
        </p:nvSpPr>
        <p:spPr>
          <a:xfrm>
            <a:off x="621792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1188720" y="38039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2606040" y="38039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issue, wording, or minor UX polish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263640" y="380390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for a post-launch update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FEEDBACK &amp; SIGN-OFF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 Exit Criteria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2984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is considered ready for go-live once all of the following are true: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1691640"/>
            <a:ext cx="8138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planned test scenarios for today have been executed by at least one tester per role group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Critical or High severity defects remain unresolved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Medium and Low severity issues have been logged and triaged for a future release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representing each major user group (HR, Faculty, Staff, IT) have given their sign-off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facilitator and MIS development team jointly agree the system is ready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FEEDBACK &amp; SIGN-OFF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Sign-Off &amp; Acceptance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2984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confirm that I have tested Atlas for my role's core workflows today, and I: □ accept  □ accept with noted issues  □ do not accept its readiness for go-live.”</a:t>
            </a:r>
            <a:endParaRPr lang="en-US" sz="12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28016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ROLE / OFFICE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SIGNATURE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6676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FEEDBACK &amp; SIGN-OFF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" y="638251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&amp; Timeline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1463040"/>
            <a:ext cx="512064" cy="512064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68" y="1529608"/>
            <a:ext cx="378927" cy="37892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138988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triage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143000" y="16733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 team reviews and prioritizes every issue logged today, sorted by severity.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57200" y="2267712"/>
            <a:ext cx="512064" cy="512064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8" y="2334280"/>
            <a:ext cx="378927" cy="37892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21945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&amp; retesting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143000" y="247802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and High severity issues are fixed and retested before go-live proceeds.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57200" y="3072384"/>
            <a:ext cx="512064" cy="512064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768" y="3138952"/>
            <a:ext cx="378927" cy="37892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299923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communication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1143000" y="328269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sign-off is complete, the campus community is notified of the go-live date.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457200" y="3877056"/>
            <a:ext cx="512064" cy="512064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768" y="3943624"/>
            <a:ext cx="378927" cy="37892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43000" y="380390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support</a:t>
            </a:r>
            <a:endParaRPr lang="en-US" sz="1450" dirty="0"/>
          </a:p>
        </p:txBody>
      </p:sp>
      <p:sp>
        <p:nvSpPr>
          <p:cNvPr id="23" name="Text 15"/>
          <p:cNvSpPr/>
          <p:nvPr/>
        </p:nvSpPr>
        <p:spPr>
          <a:xfrm>
            <a:off x="1143000" y="408736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Quick-reference guides and follow-up support are shared campus-wide at launch.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USER ACCEPTANCE TRAINING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-731520" y="1097280"/>
            <a:ext cx="420624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1188720"/>
            <a:ext cx="868680" cy="86868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48" y="1301648"/>
            <a:ext cx="642823" cy="6428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3232" y="21945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testing today shapes how Atlas serves PSHS-CRC for years to come.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731520" y="3611880"/>
            <a:ext cx="2926080" cy="0"/>
          </a:xfrm>
          <a:prstGeom prst="line">
            <a:avLst/>
          </a:prstGeom>
          <a:noFill/>
          <a:ln w="12700">
            <a:solidFill>
              <a:srgbClr val="3C4A8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3794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afterward?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Junlou Tordos  ·  PSHS-CRC MIS Team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jtordos@crc.pshs.edu.ph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— User Acceptance Training</dc:title>
  <dc:subject>PptxGenJS Presentation</dc:subject>
  <dc:creator>PSHS-CRC MIS</dc:creator>
  <cp:lastModifiedBy>PSHS-CRC MIS</cp:lastModifiedBy>
  <cp:revision>1</cp:revision>
  <dcterms:created xsi:type="dcterms:W3CDTF">2026-07-09T06:00:45Z</dcterms:created>
  <dcterms:modified xsi:type="dcterms:W3CDTF">2026-07-09T06:00:45Z</dcterms:modified>
</cp:coreProperties>
</file>